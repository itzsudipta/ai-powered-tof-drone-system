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8" r:id="rId4"/>
    <p:sldId id="290" r:id="rId5"/>
    <p:sldId id="299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5A33C-AF1A-2000-99C2-7790786AD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6B376D8-FA99-988B-A82C-32EB20249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0461C25-9FC6-10F4-0F10-727DEB2AD5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04BA66F-ED6F-0869-1982-EBD0A0197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57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965200"/>
            <a:ext cx="8534400" cy="1436014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1010253"/>
            <a:ext cx="10363200" cy="901078"/>
          </a:xfrm>
        </p:spPr>
        <p:txBody>
          <a:bodyPr/>
          <a:lstStyle/>
          <a:p>
            <a:r>
              <a:rPr lang="it-IT" sz="4000" b="1" dirty="0">
                <a:solidFill>
                  <a:schemeClr val="accent6">
                    <a:lumMod val="50000"/>
                  </a:schemeClr>
                </a:solidFill>
                <a:latin typeface="Garamond" panose="02020404030301010803" pitchFamily="18" charset="0"/>
              </a:rPr>
              <a:t>AI UTKARSH 2026- AI SUMMIT</a:t>
            </a:r>
            <a:br>
              <a:rPr lang="it-IT" sz="4000" b="1" dirty="0">
                <a:solidFill>
                  <a:schemeClr val="accent6">
                    <a:lumMod val="50000"/>
                  </a:schemeClr>
                </a:solidFill>
                <a:latin typeface="Garamond" panose="02020404030301010803" pitchFamily="18" charset="0"/>
              </a:rPr>
            </a:br>
            <a:r>
              <a:rPr lang="it-IT" sz="4000" b="1" dirty="0">
                <a:solidFill>
                  <a:schemeClr val="accent6">
                    <a:lumMod val="50000"/>
                  </a:schemeClr>
                </a:solidFill>
                <a:latin typeface="Garamond" panose="02020404030301010803" pitchFamily="18" charset="0"/>
              </a:rPr>
              <a:t>HACK-O-NIT</a:t>
            </a:r>
            <a:r>
              <a:rPr lang="en-US" sz="4000" b="1" dirty="0">
                <a:solidFill>
                  <a:schemeClr val="accent6">
                    <a:lumMod val="50000"/>
                  </a:schemeClr>
                </a:solidFill>
                <a:latin typeface="Garamond" panose="02020404030301010803" pitchFamily="18" charset="0"/>
              </a:rPr>
              <a:t> </a:t>
            </a:r>
            <a:endParaRPr lang="en-IN" sz="4000" b="1" dirty="0">
              <a:solidFill>
                <a:schemeClr val="accent6">
                  <a:lumMod val="50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428750"/>
            <a:ext cx="11018586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Track Name –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AI for Smart Infrastructure, Robotics &amp; Agriculture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Title of the Project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victim detection model for a ToF sensor drone using 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Artificial Intelligence(AI) in disaster management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HalfBaked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Engineers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Institute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Narula Institute of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Name of the Mentor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Dr. Pushpita Roy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 descr="D:\College\Hack_O_NiT_2026\png\4 in 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8220"/>
            <a:ext cx="6284913" cy="78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2522121"/>
            <a:ext cx="11826003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Problem Statement</a:t>
            </a:r>
            <a:r>
              <a:rPr lang="en-US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AI-powered Drone Technology</a:t>
            </a:r>
            <a:endParaRPr lang="en-US" sz="3200" b="1" u="sng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Objective</a:t>
            </a:r>
            <a:r>
              <a:rPr lang="en-US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To develop a high-precision, web-based victim detection system utilizing sensor fusion, combining YOLOv8 visual recognition with Random Forest thermal and depth verification to eliminate false positives in critical search-and-rescue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2" descr="D:\College\Hack_O_NiT_2026\png\4 in 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8220"/>
            <a:ext cx="6284913" cy="78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B0E4D3-4749-8215-6E3E-93274B02DFCE}"/>
              </a:ext>
            </a:extLst>
          </p:cNvPr>
          <p:cNvSpPr txBox="1"/>
          <p:nvPr/>
        </p:nvSpPr>
        <p:spPr>
          <a:xfrm>
            <a:off x="182997" y="1249046"/>
            <a:ext cx="118260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 victim detection model for a ToF sensor drone using </a:t>
            </a:r>
          </a:p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Intelligence(AI) in disaster management</a:t>
            </a:r>
          </a:p>
          <a:p>
            <a:br>
              <a:rPr lang="en-US" dirty="0"/>
            </a:b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942231"/>
            <a:ext cx="1219199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2" descr="D:\College\Hack_O_NiT_2026\png\4 in 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8220"/>
            <a:ext cx="6284913" cy="78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B596F0-B4B6-ABEA-2BBE-8261A95A2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57116"/>
              </p:ext>
            </p:extLst>
          </p:nvPr>
        </p:nvGraphicFramePr>
        <p:xfrm>
          <a:off x="182997" y="1643117"/>
          <a:ext cx="11836176" cy="4474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5392">
                  <a:extLst>
                    <a:ext uri="{9D8B030D-6E8A-4147-A177-3AD203B41FA5}">
                      <a16:colId xmlns:a16="http://schemas.microsoft.com/office/drawing/2014/main" val="1352647251"/>
                    </a:ext>
                  </a:extLst>
                </a:gridCol>
                <a:gridCol w="3945392">
                  <a:extLst>
                    <a:ext uri="{9D8B030D-6E8A-4147-A177-3AD203B41FA5}">
                      <a16:colId xmlns:a16="http://schemas.microsoft.com/office/drawing/2014/main" val="658404198"/>
                    </a:ext>
                  </a:extLst>
                </a:gridCol>
                <a:gridCol w="3945392">
                  <a:extLst>
                    <a:ext uri="{9D8B030D-6E8A-4147-A177-3AD203B41FA5}">
                      <a16:colId xmlns:a16="http://schemas.microsoft.com/office/drawing/2014/main" val="2909563455"/>
                    </a:ext>
                  </a:extLst>
                </a:gridCol>
              </a:tblGrid>
              <a:tr h="45425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Proposed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Addressing the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Innovation &amp; Uniqueness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205356"/>
                  </a:ext>
                </a:extLst>
              </a:tr>
              <a:tr h="1115078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Dual-AI Pipeline: Pairs YOLOv8 with a Random Forest model for effective rescue operation.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Beats Visual Illusions: Rejects human-shaped decoys (statues, posters) by demanding physical heat and depth verification.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Mathematical Fusion: Translates 2D visual bounding boxes into localized datasets for the secondary AI to evaluate.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976504"/>
                  </a:ext>
                </a:extLst>
              </a:tr>
              <a:tr h="1115078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Sensor Integration: Cross-references standard RGB camera feeds with Thermal and Time-of-Flight (ToF) depth data.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Conquers Low Visibility: Remains highly reliable even when smoke, fog, or complete darkness degrade standard camera feeds.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Inverse Confidence Strategy: Runs YOLO at a low threshold to catch tiny, distant victims, using physics data to aggressively filter the noise.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770019"/>
                  </a:ext>
                </a:extLst>
              </a:tr>
              <a:tr h="1643232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 Deployment: Packaged into a lightweight, local Flask web application for instant, on-site field analysis.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Saves Rescue Time: Mathematically eliminates false positives so emergency teams only deploy to verified living targets. 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Satellite Reliance: ToF sensors pinpoint exact 3D victim distances under rubble, succeeding where traditional satellite signals(GPS) fail.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062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717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D:\College\Hack_O_NiT_2026\png\4 in 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8220"/>
            <a:ext cx="6284913" cy="78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97F27B-03B6-5220-3E5F-98BDFCE3B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00" y="2211682"/>
            <a:ext cx="6915478" cy="40065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5FE390-7DF7-FB91-9A0C-6743BA5E3460}"/>
              </a:ext>
            </a:extLst>
          </p:cNvPr>
          <p:cNvSpPr txBox="1"/>
          <p:nvPr/>
        </p:nvSpPr>
        <p:spPr>
          <a:xfrm>
            <a:off x="7315200" y="2211682"/>
            <a:ext cx="46002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AI Models: YOLOv8 (Visual Spotter) &amp; Random Forest (Physics Verifier)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Processing: Python, OpenCV, Pandas (Image &amp; sensor data manipulation)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Backend &amp; UI: Flask, HTML/CSS (Lightweight edge web server)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Sensors: RGB Camera, ToF (Depth), Thermal (Multi-modal data collection)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Deploy: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Ngrok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51A7A4-90E2-7839-52D4-0A0DF592E505}"/>
              </a:ext>
            </a:extLst>
          </p:cNvPr>
          <p:cNvCxnSpPr>
            <a:cxnSpLocks/>
          </p:cNvCxnSpPr>
          <p:nvPr/>
        </p:nvCxnSpPr>
        <p:spPr>
          <a:xfrm>
            <a:off x="7315200" y="2139885"/>
            <a:ext cx="0" cy="4078355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3AA69B-93D6-D040-D8EB-50E8CBEBC3F5}"/>
              </a:ext>
            </a:extLst>
          </p:cNvPr>
          <p:cNvSpPr txBox="1"/>
          <p:nvPr/>
        </p:nvSpPr>
        <p:spPr>
          <a:xfrm>
            <a:off x="609600" y="1805066"/>
            <a:ext cx="6168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 Model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2B5B7A-6E8B-EFC0-A119-61F26B994296}"/>
              </a:ext>
            </a:extLst>
          </p:cNvPr>
          <p:cNvSpPr txBox="1"/>
          <p:nvPr/>
        </p:nvSpPr>
        <p:spPr>
          <a:xfrm>
            <a:off x="7522590" y="1805066"/>
            <a:ext cx="4059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Technologies used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11B21-14E3-5CC4-BA70-71991A40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6682BFC-1532-E071-FB15-8FEBA61EF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0AC117B-2D00-1539-CB07-260BD570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5A738-F4A4-21F8-A09F-096894B9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231B70-2343-3E9A-3E33-359D1368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D:\College\Hack_O_NiT_2026\png\4 in 1.png">
            <a:extLst>
              <a:ext uri="{FF2B5EF4-FFF2-40B4-BE49-F238E27FC236}">
                <a16:creationId xmlns:a16="http://schemas.microsoft.com/office/drawing/2014/main" id="{B9F356D5-0991-CCE5-8832-81734334D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8220"/>
            <a:ext cx="6284913" cy="78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5CD53F-52DD-75D3-D859-631993485656}"/>
              </a:ext>
            </a:extLst>
          </p:cNvPr>
          <p:cNvCxnSpPr>
            <a:cxnSpLocks/>
          </p:cNvCxnSpPr>
          <p:nvPr/>
        </p:nvCxnSpPr>
        <p:spPr>
          <a:xfrm>
            <a:off x="6099140" y="1805066"/>
            <a:ext cx="0" cy="4413174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29009C-9FA4-86B2-0D8F-B47740552E38}"/>
              </a:ext>
            </a:extLst>
          </p:cNvPr>
          <p:cNvSpPr txBox="1"/>
          <p:nvPr/>
        </p:nvSpPr>
        <p:spPr>
          <a:xfrm>
            <a:off x="414779" y="1805066"/>
            <a:ext cx="5212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E227B2-2FE6-1415-4822-6A41A8E82841}"/>
              </a:ext>
            </a:extLst>
          </p:cNvPr>
          <p:cNvSpPr txBox="1"/>
          <p:nvPr/>
        </p:nvSpPr>
        <p:spPr>
          <a:xfrm>
            <a:off x="7173794" y="1805066"/>
            <a:ext cx="3928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Victim Detection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39EC0-71CF-07B3-E5C5-6FC7184DB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79" y="2545238"/>
            <a:ext cx="5212402" cy="26997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DE943A-1D01-45EC-2506-C55046C56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793" y="2261213"/>
            <a:ext cx="3928650" cy="382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09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254621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194154"/>
            <a:ext cx="10972800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1. Feasibility (Highly Viable)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Accessible Hardware: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RGB, ToF, and Thermal sensors are affordable and lightweight.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Edge-Ready: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YOLOv8 and Random Forest run efficiently on local, low-power devices.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2. Potential Risks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Alignment: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Mismatched field-of-view between the camera and sensor grid.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Hardware Lag: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Running deep learning on battery-powered drones/rovers.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Visual Blindness: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Camera failure in extreme smoke or total darkness.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3. Mitigation Strategies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Calibration: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Mathematically map camera pixels to the sensor grid before deployment.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Optimization: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Compress to smaller models (e.g., YOLOv8 Nano) for real-time speed.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Fallback Logic: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Allow ToF and Thermal to trigger alerts independently if the camera goes blind.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D:\College\Hack_O_NiT_2026\png\4 in 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8220"/>
            <a:ext cx="6284913" cy="78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241422"/>
            <a:ext cx="10972800" cy="372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1. Impact on Target Audience (Rescue Teams)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Unmatched Safety: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Keeps first responders out of unstable, hazardous zones by eliminating false alarms.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Rapid Precision: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Drastically reduces search time, allowing teams to focus strictly on verified human targets.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Reduced Fatigue: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Prevents the physical and mental exhaustion of chasing "ghost" targets or debris.</a:t>
            </a:r>
          </a:p>
          <a:p>
            <a:pPr lvl="0" algn="just">
              <a:defRPr/>
            </a:pP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2. Broad Benefits (Social, Economic, Environmental)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 (Life-Saving):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Maximizes victim survival rates by speeding up discovery during the critical "golden hour" of a disaster.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 (Cost-Efficient):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Saves massive operational rescue costs (helicopter fuel, equipment wear, and man-hours) wasted on false positives.</a:t>
            </a:r>
          </a:p>
          <a:p>
            <a:pPr lvl="0" algn="just"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Environmental (Low Footprint): 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Reduces unnecessary drone/rover deployments and minimizes further disruption to fragile, collapsed environments.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D:\College\Hack_O_NiT_2026\png\4 in 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8220"/>
            <a:ext cx="6284913" cy="78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109728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Jocher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G., Chaurasia, A., &amp; Qiu, J. (2023). YOLO by </a:t>
            </a:r>
            <a:r>
              <a:rPr lang="en-US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Ultralytics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(Version 8.0). Open-source repository.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Redmon, J., et al. (2016). "You Only Look Once: Unified, Real-Time Object Detection." IEEE Conference on Computer Vision and Pattern Recognition (CVPR).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Breiman</a:t>
            </a: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L. (2001). "Random Forests." Machine Learning, 45(1), 5-32.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IEEE Transactions on Robotics: "Multispectral RGB-Thermal Sensor Fusion for Pedestrian Detection in Low-Visibility Conditions."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Journal of Field Robotics: "UAV/UGV Deployment in GPS-Denied Environments using 3D Depth Mapping and Time-of-Flight (ToF) Sensors."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2" descr="D:\College\Hack_O_NiT_2026\png\4 in 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38220"/>
            <a:ext cx="6284913" cy="78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7645</TotalTime>
  <Words>861</Words>
  <Application>Microsoft Office PowerPoint</Application>
  <PresentationFormat>Widescreen</PresentationFormat>
  <Paragraphs>96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AI UTKARSH 2026- AI SUMMIT HACK-O-NIT </vt:lpstr>
      <vt:lpstr>    </vt:lpstr>
      <vt:lpstr> </vt:lpstr>
      <vt:lpstr>   TECHNICAL APPROACH</vt:lpstr>
      <vt:lpstr>   RESULTS</vt:lpstr>
      <vt:lpstr>   FEASIBILITY AND VIABILITY</vt:lpstr>
      <vt:lpstr>   IMPACT AND BENEFITS</vt:lpstr>
      <vt:lpstr>    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Rupanjana Majhi</cp:lastModifiedBy>
  <cp:revision>172</cp:revision>
  <dcterms:created xsi:type="dcterms:W3CDTF">2013-12-12T18:46:50Z</dcterms:created>
  <dcterms:modified xsi:type="dcterms:W3CDTF">2026-03-25T16:05:08Z</dcterms:modified>
  <cp:category/>
</cp:coreProperties>
</file>